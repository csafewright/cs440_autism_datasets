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Quantico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Quantic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ntic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ntico-boldItalic.fntdata"/><Relationship Id="rId30" Type="http://schemas.openxmlformats.org/officeDocument/2006/relationships/font" Target="fonts/Quantico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cd54e01a6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cd54e01a6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cd54e01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cd54e01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cd54e01a6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cd54e01a6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cd54e01a6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cd54e01a6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cd54e01a6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cd54e01a6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cd54e01a6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acd54e01a6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cd54e01a6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cd54e01a6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cd54e01a6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cd54e01a6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cd54e01a6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acd54e01a6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cd54e01a6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acd54e01a6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cd54e01a6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acd54e01a6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cd9bde85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acd9bde85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cd9bde859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acd9bde859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cd54e01a6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acd54e01a6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cd54e01a6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acd54e01a6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cd9bde8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cd9bde8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cd9bde859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cd9bde859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cd9bde859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cd9bde859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cd9bde859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cd9bde859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cd9bde859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acd9bde859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d4d7a88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ad4d7a88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cd9bde859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cd9bde859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ata.cdc.gov/Public-Health-Surveillance/autism-prevalence-studies/9mw4-6adp/data_preview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Mapping the Autism Landscape</a:t>
            </a:r>
            <a:endParaRPr sz="6000"/>
          </a:p>
        </p:txBody>
      </p:sp>
      <p:sp>
        <p:nvSpPr>
          <p:cNvPr id="432" name="Google Shape;432;p47"/>
          <p:cNvSpPr txBox="1"/>
          <p:nvPr>
            <p:ph idx="1" type="subTitle"/>
          </p:nvPr>
        </p:nvSpPr>
        <p:spPr>
          <a:xfrm>
            <a:off x="1334325" y="3619500"/>
            <a:ext cx="3805200" cy="370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By Cody Safewright and Nicholas Rodgers</a:t>
            </a:r>
            <a:endParaRPr sz="1500"/>
          </a:p>
        </p:txBody>
      </p:sp>
      <p:pic>
        <p:nvPicPr>
          <p:cNvPr id="433" name="Google Shape;43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33" y="1150750"/>
            <a:ext cx="3277691" cy="3328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6000"/>
              <a:t>Agenda</a:t>
            </a:r>
            <a:endParaRPr sz="6000"/>
          </a:p>
        </p:txBody>
      </p:sp>
      <p:sp>
        <p:nvSpPr>
          <p:cNvPr id="439" name="Google Shape;439;p48"/>
          <p:cNvSpPr txBox="1"/>
          <p:nvPr/>
        </p:nvSpPr>
        <p:spPr>
          <a:xfrm>
            <a:off x="3337975" y="4244275"/>
            <a:ext cx="584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0" name="Google Shape;440;p48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5903925" y="1022500"/>
            <a:ext cx="2837124" cy="340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our data</a:t>
            </a:r>
            <a:endParaRPr/>
          </a:p>
        </p:txBody>
      </p:sp>
      <p:sp>
        <p:nvSpPr>
          <p:cNvPr id="442" name="Google Shape;442;p48"/>
          <p:cNvSpPr txBox="1"/>
          <p:nvPr>
            <p:ph idx="3" type="subTitle"/>
          </p:nvPr>
        </p:nvSpPr>
        <p:spPr>
          <a:xfrm>
            <a:off x="4406650" y="3023757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</p:txBody>
      </p:sp>
      <p:sp>
        <p:nvSpPr>
          <p:cNvPr id="443" name="Google Shape;443;p48"/>
          <p:cNvSpPr txBox="1"/>
          <p:nvPr>
            <p:ph idx="4" type="subTitle"/>
          </p:nvPr>
        </p:nvSpPr>
        <p:spPr>
          <a:xfrm>
            <a:off x="4406650" y="18032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the Original Data</a:t>
            </a:r>
            <a:endParaRPr/>
          </a:p>
        </p:txBody>
      </p:sp>
      <p:sp>
        <p:nvSpPr>
          <p:cNvPr id="444" name="Google Shape;444;p48"/>
          <p:cNvSpPr txBox="1"/>
          <p:nvPr>
            <p:ph idx="5" type="subTitle"/>
          </p:nvPr>
        </p:nvSpPr>
        <p:spPr>
          <a:xfrm>
            <a:off x="4406650" y="3485338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 jobs</a:t>
            </a:r>
            <a:endParaRPr/>
          </a:p>
        </p:txBody>
      </p:sp>
      <p:sp>
        <p:nvSpPr>
          <p:cNvPr id="445" name="Google Shape;445;p48"/>
          <p:cNvSpPr txBox="1"/>
          <p:nvPr>
            <p:ph idx="6" type="subTitle"/>
          </p:nvPr>
        </p:nvSpPr>
        <p:spPr>
          <a:xfrm>
            <a:off x="4406650" y="2454803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446" name="Google Shape;446;p48"/>
          <p:cNvSpPr txBox="1"/>
          <p:nvPr>
            <p:ph idx="5" type="subTitle"/>
          </p:nvPr>
        </p:nvSpPr>
        <p:spPr>
          <a:xfrm>
            <a:off x="4406650" y="40280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Prometheus</a:t>
            </a:r>
            <a:endParaRPr/>
          </a:p>
        </p:txBody>
      </p:sp>
      <p:sp>
        <p:nvSpPr>
          <p:cNvPr id="447" name="Google Shape;447;p48"/>
          <p:cNvSpPr txBox="1"/>
          <p:nvPr>
            <p:ph idx="5" type="subTitle"/>
          </p:nvPr>
        </p:nvSpPr>
        <p:spPr>
          <a:xfrm>
            <a:off x="4406650" y="451587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questions</a:t>
            </a:r>
            <a:endParaRPr/>
          </a:p>
        </p:txBody>
      </p:sp>
      <p:sp>
        <p:nvSpPr>
          <p:cNvPr id="448" name="Google Shape;448;p48"/>
          <p:cNvSpPr txBox="1"/>
          <p:nvPr>
            <p:ph idx="2" type="subTitle"/>
          </p:nvPr>
        </p:nvSpPr>
        <p:spPr>
          <a:xfrm>
            <a:off x="4367400" y="50015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54" name="Google Shape;454;p49"/>
          <p:cNvSpPr txBox="1"/>
          <p:nvPr>
            <p:ph idx="2" type="title"/>
          </p:nvPr>
        </p:nvSpPr>
        <p:spPr>
          <a:xfrm>
            <a:off x="920550" y="1881950"/>
            <a:ext cx="7395600" cy="252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Find how Autism Spectrum Disorder (ASD) has grown globally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Build a data pipeline to help clean our dataset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0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our Data</a:t>
            </a:r>
            <a:endParaRPr/>
          </a:p>
        </p:txBody>
      </p:sp>
      <p:sp>
        <p:nvSpPr>
          <p:cNvPr id="460" name="Google Shape;460;p50"/>
          <p:cNvSpPr txBox="1"/>
          <p:nvPr>
            <p:ph idx="2" type="title"/>
          </p:nvPr>
        </p:nvSpPr>
        <p:spPr>
          <a:xfrm>
            <a:off x="920550" y="1881950"/>
            <a:ext cx="36516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Our ASD data comes from the Autism Prevalence Studies dataset from Center for Disease Control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Research conducted </a:t>
            </a:r>
            <a:r>
              <a:rPr lang="en"/>
              <a:t>globally by local and national research including nationwide, state, and local research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Curated from 1962-2022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data can be found </a:t>
            </a:r>
            <a:r>
              <a:rPr lang="en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>
              <a:solidFill>
                <a:srgbClr val="0000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1" name="Google Shape;46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100" y="1427175"/>
            <a:ext cx="3181750" cy="31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data originally looked</a:t>
            </a:r>
            <a:endParaRPr/>
          </a:p>
        </p:txBody>
      </p:sp>
      <p:sp>
        <p:nvSpPr>
          <p:cNvPr id="467" name="Google Shape;467;p51"/>
          <p:cNvSpPr txBox="1"/>
          <p:nvPr/>
        </p:nvSpPr>
        <p:spPr>
          <a:xfrm>
            <a:off x="927950" y="1753000"/>
            <a:ext cx="77382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26 </a:t>
            </a: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column</a:t>
            </a: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including: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Author, Title, Year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Country, Area(s)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Age Range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Study years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Case Identification Method and Criteria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Sample size, number of cases, ASD Prevalence per 1000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Confidence Interval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Races (White or Non-white)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Diagnosis Age (range, median, mean) by months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IQ score, adaptive score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Non-verbal to </a:t>
            </a: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minimally</a:t>
            </a: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verbal (%)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Classification, publication, and calculated values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2"/>
          <p:cNvSpPr txBox="1"/>
          <p:nvPr>
            <p:ph type="title"/>
          </p:nvPr>
        </p:nvSpPr>
        <p:spPr>
          <a:xfrm>
            <a:off x="920550" y="904500"/>
            <a:ext cx="74859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 lot but here’s the issue:</a:t>
            </a:r>
            <a:endParaRPr/>
          </a:p>
        </p:txBody>
      </p:sp>
      <p:sp>
        <p:nvSpPr>
          <p:cNvPr id="473" name="Google Shape;473;p52"/>
          <p:cNvSpPr txBox="1"/>
          <p:nvPr/>
        </p:nvSpPr>
        <p:spPr>
          <a:xfrm>
            <a:off x="773475" y="1752850"/>
            <a:ext cx="84309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majority of that data was empty or useless for analytics…</a:t>
            </a:r>
            <a:endParaRPr b="1" sz="5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3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/>
              <a:t>Data Cleaning: </a:t>
            </a:r>
            <a:r>
              <a:rPr lang="en" sz="3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Removing Attributes</a:t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  <p:sp>
        <p:nvSpPr>
          <p:cNvPr id="479" name="Google Shape;479;p53"/>
          <p:cNvSpPr txBox="1"/>
          <p:nvPr>
            <p:ph idx="2" type="title"/>
          </p:nvPr>
        </p:nvSpPr>
        <p:spPr>
          <a:xfrm>
            <a:off x="751650" y="1678450"/>
            <a:ext cx="7395600" cy="252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16 columns dropped</a:t>
            </a:r>
            <a:endParaRPr sz="1500"/>
          </a:p>
        </p:txBody>
      </p:sp>
      <p:pic>
        <p:nvPicPr>
          <p:cNvPr id="480" name="Google Shape;4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900" y="2270550"/>
            <a:ext cx="5406076" cy="25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4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/>
              <a:t>Data Cleaning: </a:t>
            </a:r>
            <a:r>
              <a:rPr lang="en" sz="3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Missing Values</a:t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/>
          </a:p>
        </p:txBody>
      </p:sp>
      <p:sp>
        <p:nvSpPr>
          <p:cNvPr id="486" name="Google Shape;486;p54"/>
          <p:cNvSpPr txBox="1"/>
          <p:nvPr>
            <p:ph idx="2" type="title"/>
          </p:nvPr>
        </p:nvSpPr>
        <p:spPr>
          <a:xfrm>
            <a:off x="865750" y="1183625"/>
            <a:ext cx="5571300" cy="252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Male:Female Sex Ratio - averaged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Missing localites - ‘Unknown’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Age - averaged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Study Years [Year Started, Year Ended] - Year Published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Dropped rows missing ‘Sample Size’ or ‘Number of Cases’</a:t>
            </a:r>
            <a:endParaRPr/>
          </a:p>
        </p:txBody>
      </p:sp>
      <p:pic>
        <p:nvPicPr>
          <p:cNvPr id="487" name="Google Shape;48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762" y="3395100"/>
            <a:ext cx="8120025" cy="111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/>
              <a:t>Data Cleaning: </a:t>
            </a:r>
            <a:r>
              <a:rPr lang="en" sz="3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Enrichment</a:t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/>
          </a:p>
        </p:txBody>
      </p:sp>
      <p:sp>
        <p:nvSpPr>
          <p:cNvPr id="493" name="Google Shape;493;p55"/>
          <p:cNvSpPr txBox="1"/>
          <p:nvPr>
            <p:ph idx="2" type="title"/>
          </p:nvPr>
        </p:nvSpPr>
        <p:spPr>
          <a:xfrm>
            <a:off x="920550" y="1093500"/>
            <a:ext cx="7830000" cy="252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Age Range - [0-12] -&gt;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Youngest Age - [0]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Oldest Age - [12]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Study Years - [2010-2012] -&gt;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Year Started - [2010]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Year Ended - [2012]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25" y="3438750"/>
            <a:ext cx="7248525" cy="1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6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000"/>
              <a:t>Data Cleaning: </a:t>
            </a:r>
            <a:r>
              <a:rPr lang="en" sz="3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Type Format</a:t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/>
          </a:p>
        </p:txBody>
      </p:sp>
      <p:sp>
        <p:nvSpPr>
          <p:cNvPr id="500" name="Google Shape;500;p56"/>
          <p:cNvSpPr txBox="1"/>
          <p:nvPr>
            <p:ph idx="2" type="title"/>
          </p:nvPr>
        </p:nvSpPr>
        <p:spPr>
          <a:xfrm>
            <a:off x="836100" y="1524000"/>
            <a:ext cx="7395600" cy="252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Sample Size - [3,012,321] -&gt; [3012321]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Number of Cases - [23,014] -&gt; [23014]</a:t>
            </a:r>
            <a:endParaRPr sz="1800"/>
          </a:p>
        </p:txBody>
      </p:sp>
      <p:pic>
        <p:nvPicPr>
          <p:cNvPr id="501" name="Google Shape;50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75" y="2928925"/>
            <a:ext cx="6524625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7"/>
          <p:cNvSpPr txBox="1"/>
          <p:nvPr>
            <p:ph type="title"/>
          </p:nvPr>
        </p:nvSpPr>
        <p:spPr>
          <a:xfrm>
            <a:off x="920550" y="904500"/>
            <a:ext cx="74859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Dataset After Cleaning</a:t>
            </a:r>
            <a:endParaRPr/>
          </a:p>
        </p:txBody>
      </p:sp>
      <p:sp>
        <p:nvSpPr>
          <p:cNvPr id="507" name="Google Shape;507;p57"/>
          <p:cNvSpPr txBox="1"/>
          <p:nvPr/>
        </p:nvSpPr>
        <p:spPr>
          <a:xfrm>
            <a:off x="773475" y="1752850"/>
            <a:ext cx="45309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Now the data we have includes only 10 columns: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Author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Year Published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Country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Area(s)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Sample Size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ASD Prevalence Estimate per 1,000	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Male:Female Sex Ratio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Year Started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Year Ended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Youngest Age	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Oldest Age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8"/>
          <p:cNvSpPr txBox="1"/>
          <p:nvPr>
            <p:ph idx="4294967295" type="title"/>
          </p:nvPr>
        </p:nvSpPr>
        <p:spPr>
          <a:xfrm>
            <a:off x="695975" y="474675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pipeline</a:t>
            </a:r>
            <a:endParaRPr/>
          </a:p>
        </p:txBody>
      </p:sp>
      <p:pic>
        <p:nvPicPr>
          <p:cNvPr id="513" name="Google Shape;513;p58" title="Pipeline_Diagram_ColorCod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120991"/>
            <a:ext cx="8991599" cy="365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1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1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1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 Jobs</a:t>
            </a:r>
            <a:endParaRPr/>
          </a:p>
        </p:txBody>
      </p:sp>
      <p:sp>
        <p:nvSpPr>
          <p:cNvPr id="537" name="Google Shape;537;p62"/>
          <p:cNvSpPr txBox="1"/>
          <p:nvPr>
            <p:ph idx="1" type="subTitle"/>
          </p:nvPr>
        </p:nvSpPr>
        <p:spPr>
          <a:xfrm>
            <a:off x="4461075" y="787563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UI</a:t>
            </a:r>
            <a:endParaRPr/>
          </a:p>
        </p:txBody>
      </p:sp>
      <p:sp>
        <p:nvSpPr>
          <p:cNvPr id="538" name="Google Shape;538;p62"/>
          <p:cNvSpPr txBox="1"/>
          <p:nvPr>
            <p:ph idx="2" type="subTitle"/>
          </p:nvPr>
        </p:nvSpPr>
        <p:spPr>
          <a:xfrm>
            <a:off x="4461075" y="1545518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</a:t>
            </a:r>
            <a:endParaRPr/>
          </a:p>
        </p:txBody>
      </p:sp>
      <p:sp>
        <p:nvSpPr>
          <p:cNvPr id="539" name="Google Shape;539;p62"/>
          <p:cNvSpPr txBox="1"/>
          <p:nvPr>
            <p:ph idx="3" type="subTitle"/>
          </p:nvPr>
        </p:nvSpPr>
        <p:spPr>
          <a:xfrm>
            <a:off x="4461075" y="3819383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Schedules/Triggers</a:t>
            </a:r>
            <a:endParaRPr/>
          </a:p>
        </p:txBody>
      </p:sp>
      <p:sp>
        <p:nvSpPr>
          <p:cNvPr id="540" name="Google Shape;540;p62"/>
          <p:cNvSpPr txBox="1"/>
          <p:nvPr>
            <p:ph idx="4" type="subTitle"/>
          </p:nvPr>
        </p:nvSpPr>
        <p:spPr>
          <a:xfrm>
            <a:off x="4461075" y="2303473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541" name="Google Shape;541;p62"/>
          <p:cNvSpPr txBox="1"/>
          <p:nvPr>
            <p:ph idx="6" type="subTitle"/>
          </p:nvPr>
        </p:nvSpPr>
        <p:spPr>
          <a:xfrm>
            <a:off x="4461075" y="3061428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3"/>
          <p:cNvSpPr/>
          <p:nvPr/>
        </p:nvSpPr>
        <p:spPr>
          <a:xfrm>
            <a:off x="117025" y="79700"/>
            <a:ext cx="8926200" cy="500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47" name="Google Shape;547;p63" title="Databricks_Job_Disp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87" y="143225"/>
            <a:ext cx="8103224" cy="48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Prometheus</a:t>
            </a:r>
            <a:endParaRPr/>
          </a:p>
        </p:txBody>
      </p:sp>
      <p:sp>
        <p:nvSpPr>
          <p:cNvPr id="553" name="Google Shape;553;p64"/>
          <p:cNvSpPr txBox="1"/>
          <p:nvPr>
            <p:ph idx="1" type="subTitle"/>
          </p:nvPr>
        </p:nvSpPr>
        <p:spPr>
          <a:xfrm>
            <a:off x="4461075" y="1545513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monitoring</a:t>
            </a:r>
            <a:endParaRPr/>
          </a:p>
        </p:txBody>
      </p:sp>
      <p:sp>
        <p:nvSpPr>
          <p:cNvPr id="554" name="Google Shape;554;p64"/>
          <p:cNvSpPr txBox="1"/>
          <p:nvPr>
            <p:ph idx="2" type="subTitle"/>
          </p:nvPr>
        </p:nvSpPr>
        <p:spPr>
          <a:xfrm>
            <a:off x="4461075" y="2303468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Rules/Alerts</a:t>
            </a:r>
            <a:endParaRPr/>
          </a:p>
        </p:txBody>
      </p:sp>
      <p:sp>
        <p:nvSpPr>
          <p:cNvPr id="555" name="Google Shape;555;p64"/>
          <p:cNvSpPr txBox="1"/>
          <p:nvPr>
            <p:ph idx="4" type="subTitle"/>
          </p:nvPr>
        </p:nvSpPr>
        <p:spPr>
          <a:xfrm>
            <a:off x="4461075" y="3061423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65"/>
          <p:cNvSpPr/>
          <p:nvPr/>
        </p:nvSpPr>
        <p:spPr>
          <a:xfrm>
            <a:off x="117025" y="285750"/>
            <a:ext cx="8926200" cy="43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6" name="Google Shape;56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75" y="678200"/>
            <a:ext cx="8575677" cy="3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6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6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0" cy="2676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76050"/>
            <a:ext cx="9143998" cy="246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83" name="Google Shape;583;p67"/>
          <p:cNvSpPr txBox="1"/>
          <p:nvPr>
            <p:ph idx="1" type="subTitle"/>
          </p:nvPr>
        </p:nvSpPr>
        <p:spPr>
          <a:xfrm>
            <a:off x="4367400" y="19096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Autism rates have gone up globally</a:t>
            </a:r>
            <a:endParaRPr/>
          </a:p>
        </p:txBody>
      </p:sp>
      <p:sp>
        <p:nvSpPr>
          <p:cNvPr id="584" name="Google Shape;584;p6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Autism in the US is the fastest growing</a:t>
            </a:r>
            <a:endParaRPr/>
          </a:p>
        </p:txBody>
      </p:sp>
      <p:sp>
        <p:nvSpPr>
          <p:cNvPr id="585" name="Google Shape;585;p67"/>
          <p:cNvSpPr txBox="1"/>
          <p:nvPr>
            <p:ph idx="3" type="subTitle"/>
          </p:nvPr>
        </p:nvSpPr>
        <p:spPr>
          <a:xfrm>
            <a:off x="4406650" y="353319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Using good data makes a better project</a:t>
            </a:r>
            <a:endParaRPr/>
          </a:p>
        </p:txBody>
      </p:sp>
      <p:sp>
        <p:nvSpPr>
          <p:cNvPr id="586" name="Google Shape;586;p67"/>
          <p:cNvSpPr txBox="1"/>
          <p:nvPr>
            <p:ph idx="4" type="subTitle"/>
          </p:nvPr>
        </p:nvSpPr>
        <p:spPr>
          <a:xfrm>
            <a:off x="4367400" y="60901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What’d we learn from the d</a:t>
            </a:r>
            <a:r>
              <a:rPr b="1" lang="en"/>
              <a:t>ata?</a:t>
            </a:r>
            <a:endParaRPr b="1"/>
          </a:p>
        </p:txBody>
      </p:sp>
      <p:sp>
        <p:nvSpPr>
          <p:cNvPr id="587" name="Google Shape;587;p67"/>
          <p:cNvSpPr txBox="1"/>
          <p:nvPr>
            <p:ph idx="5" type="subTitle"/>
          </p:nvPr>
        </p:nvSpPr>
        <p:spPr>
          <a:xfrm>
            <a:off x="4406650" y="43150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Getting code to work together can be a pain</a:t>
            </a:r>
            <a:endParaRPr/>
          </a:p>
        </p:txBody>
      </p:sp>
      <p:sp>
        <p:nvSpPr>
          <p:cNvPr id="588" name="Google Shape;588;p67"/>
          <p:cNvSpPr txBox="1"/>
          <p:nvPr>
            <p:ph idx="6" type="subTitle"/>
          </p:nvPr>
        </p:nvSpPr>
        <p:spPr>
          <a:xfrm>
            <a:off x="4406650" y="288286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 learned for the p</a:t>
            </a:r>
            <a:r>
              <a:rPr b="1" lang="en"/>
              <a:t>roject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68"/>
          <p:cNvPicPr preferRelativeResize="0"/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8"/>
          <p:cNvSpPr txBox="1"/>
          <p:nvPr>
            <p:ph type="title"/>
          </p:nvPr>
        </p:nvSpPr>
        <p:spPr>
          <a:xfrm>
            <a:off x="677325" y="1832775"/>
            <a:ext cx="75360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/>
              <a:t>Any Questions???</a:t>
            </a:r>
            <a:endParaRPr b="1"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